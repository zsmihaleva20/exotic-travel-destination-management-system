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3" r:id="rId1"/>
  </p:sldMasterIdLst>
  <p:notesMasterIdLst>
    <p:notesMasterId r:id="rId8"/>
  </p:notesMasterIdLst>
  <p:sldIdLst>
    <p:sldId id="256" r:id="rId2"/>
    <p:sldId id="297" r:id="rId3"/>
    <p:sldId id="298" r:id="rId4"/>
    <p:sldId id="299" r:id="rId5"/>
    <p:sldId id="300" r:id="rId6"/>
    <p:sldId id="301" r:id="rId7"/>
  </p:sldIdLst>
  <p:sldSz cx="9144000" cy="5143500" type="screen16x9"/>
  <p:notesSz cx="6858000" cy="9144000"/>
  <p:embeddedFontLst>
    <p:embeddedFont>
      <p:font typeface="Poppins" panose="00000500000000000000" pitchFamily="2" charset="0"/>
      <p:regular r:id="rId9"/>
      <p:bold r:id="rId10"/>
      <p:italic r:id="rId11"/>
      <p:boldItalic r:id="rId1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FCC171D-37D7-4781-9AD3-47A20CF3058C}">
  <a:tblStyle styleId="{AFCC171D-37D7-4781-9AD3-47A20CF3058C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807E568B-AAEE-4FF1-B545-FB886177E61D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202" d="100"/>
          <a:sy n="202" d="100"/>
        </p:scale>
        <p:origin x="620" y="11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275d5342532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3" name="Google Shape;203;g275d5342532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2080675" y="1687650"/>
            <a:ext cx="6350100" cy="1431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2080675" y="3183000"/>
            <a:ext cx="63501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0" y="0"/>
            <a:ext cx="17214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2" name="Google Shape;12;p2"/>
          <p:cNvCxnSpPr/>
          <p:nvPr/>
        </p:nvCxnSpPr>
        <p:spPr>
          <a:xfrm>
            <a:off x="8680750" y="-35700"/>
            <a:ext cx="0" cy="521490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8"/>
          <p:cNvSpPr txBox="1">
            <a:spLocks noGrp="1"/>
          </p:cNvSpPr>
          <p:nvPr>
            <p:ph type="title"/>
          </p:nvPr>
        </p:nvSpPr>
        <p:spPr>
          <a:xfrm>
            <a:off x="3454075" y="13071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54" name="Google Shape;54;p8"/>
          <p:cNvSpPr/>
          <p:nvPr/>
        </p:nvSpPr>
        <p:spPr>
          <a:xfrm>
            <a:off x="0" y="0"/>
            <a:ext cx="26607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55" name="Google Shape;55;p8"/>
          <p:cNvCxnSpPr/>
          <p:nvPr/>
        </p:nvCxnSpPr>
        <p:spPr>
          <a:xfrm>
            <a:off x="8430775" y="-35700"/>
            <a:ext cx="0" cy="521490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56" name="Google Shape;56;p8"/>
          <p:cNvGrpSpPr/>
          <p:nvPr/>
        </p:nvGrpSpPr>
        <p:grpSpPr>
          <a:xfrm>
            <a:off x="3230850" y="4760600"/>
            <a:ext cx="6025500" cy="0"/>
            <a:chOff x="2220050" y="1547100"/>
            <a:chExt cx="6025500" cy="0"/>
          </a:xfrm>
        </p:grpSpPr>
        <p:cxnSp>
          <p:nvCxnSpPr>
            <p:cNvPr id="57" name="Google Shape;57;p8"/>
            <p:cNvCxnSpPr/>
            <p:nvPr/>
          </p:nvCxnSpPr>
          <p:spPr>
            <a:xfrm>
              <a:off x="2220050" y="1547100"/>
              <a:ext cx="464400" cy="0"/>
            </a:xfrm>
            <a:prstGeom prst="straightConnector1">
              <a:avLst/>
            </a:prstGeom>
            <a:noFill/>
            <a:ln w="1143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8" name="Google Shape;58;p8"/>
            <p:cNvCxnSpPr/>
            <p:nvPr/>
          </p:nvCxnSpPr>
          <p:spPr>
            <a:xfrm>
              <a:off x="2684450" y="1547100"/>
              <a:ext cx="55611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9"/>
          <p:cNvSpPr/>
          <p:nvPr/>
        </p:nvSpPr>
        <p:spPr>
          <a:xfrm>
            <a:off x="5555725" y="0"/>
            <a:ext cx="35883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title"/>
          </p:nvPr>
        </p:nvSpPr>
        <p:spPr>
          <a:xfrm>
            <a:off x="713225" y="1254000"/>
            <a:ext cx="4158600" cy="196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subTitle" idx="1"/>
          </p:nvPr>
        </p:nvSpPr>
        <p:spPr>
          <a:xfrm>
            <a:off x="713225" y="3218400"/>
            <a:ext cx="41586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cxnSp>
        <p:nvCxnSpPr>
          <p:cNvPr id="63" name="Google Shape;63;p9"/>
          <p:cNvCxnSpPr/>
          <p:nvPr/>
        </p:nvCxnSpPr>
        <p:spPr>
          <a:xfrm>
            <a:off x="517944" y="-35700"/>
            <a:ext cx="0" cy="521490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64" name="Google Shape;64;p9"/>
          <p:cNvGrpSpPr/>
          <p:nvPr/>
        </p:nvGrpSpPr>
        <p:grpSpPr>
          <a:xfrm flipH="1">
            <a:off x="-93775" y="4604000"/>
            <a:ext cx="4197300" cy="0"/>
            <a:chOff x="2220050" y="1547100"/>
            <a:chExt cx="4197300" cy="0"/>
          </a:xfrm>
        </p:grpSpPr>
        <p:cxnSp>
          <p:nvCxnSpPr>
            <p:cNvPr id="65" name="Google Shape;65;p9"/>
            <p:cNvCxnSpPr/>
            <p:nvPr/>
          </p:nvCxnSpPr>
          <p:spPr>
            <a:xfrm>
              <a:off x="2220050" y="1547100"/>
              <a:ext cx="464400" cy="0"/>
            </a:xfrm>
            <a:prstGeom prst="straightConnector1">
              <a:avLst/>
            </a:prstGeom>
            <a:noFill/>
            <a:ln w="1143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6" name="Google Shape;66;p9"/>
            <p:cNvCxnSpPr/>
            <p:nvPr/>
          </p:nvCxnSpPr>
          <p:spPr>
            <a:xfrm>
              <a:off x="2684450" y="1547100"/>
              <a:ext cx="3732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_ONLY_1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4"/>
          <p:cNvSpPr/>
          <p:nvPr/>
        </p:nvSpPr>
        <p:spPr>
          <a:xfrm>
            <a:off x="0" y="0"/>
            <a:ext cx="4029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cxnSp>
        <p:nvCxnSpPr>
          <p:cNvPr id="98" name="Google Shape;98;p14"/>
          <p:cNvCxnSpPr/>
          <p:nvPr/>
        </p:nvCxnSpPr>
        <p:spPr>
          <a:xfrm>
            <a:off x="8783850" y="-35700"/>
            <a:ext cx="0" cy="521490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99" name="Google Shape;99;p14"/>
          <p:cNvGrpSpPr/>
          <p:nvPr/>
        </p:nvGrpSpPr>
        <p:grpSpPr>
          <a:xfrm>
            <a:off x="1501085" y="4854300"/>
            <a:ext cx="7698000" cy="0"/>
            <a:chOff x="2220050" y="1547100"/>
            <a:chExt cx="7698000" cy="0"/>
          </a:xfrm>
        </p:grpSpPr>
        <p:cxnSp>
          <p:nvCxnSpPr>
            <p:cNvPr id="100" name="Google Shape;100;p14"/>
            <p:cNvCxnSpPr/>
            <p:nvPr/>
          </p:nvCxnSpPr>
          <p:spPr>
            <a:xfrm>
              <a:off x="2220050" y="1547100"/>
              <a:ext cx="464400" cy="0"/>
            </a:xfrm>
            <a:prstGeom prst="straightConnector1">
              <a:avLst/>
            </a:prstGeom>
            <a:noFill/>
            <a:ln w="1143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1" name="Google Shape;101;p14"/>
            <p:cNvCxnSpPr/>
            <p:nvPr/>
          </p:nvCxnSpPr>
          <p:spPr>
            <a:xfrm>
              <a:off x="2684450" y="1547100"/>
              <a:ext cx="72336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3"/>
          <p:cNvSpPr/>
          <p:nvPr/>
        </p:nvSpPr>
        <p:spPr>
          <a:xfrm>
            <a:off x="6501975" y="0"/>
            <a:ext cx="26421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85" name="Google Shape;185;p23"/>
          <p:cNvCxnSpPr/>
          <p:nvPr/>
        </p:nvCxnSpPr>
        <p:spPr>
          <a:xfrm>
            <a:off x="479225" y="-35700"/>
            <a:ext cx="0" cy="521490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86" name="Google Shape;186;p23"/>
          <p:cNvGrpSpPr/>
          <p:nvPr/>
        </p:nvGrpSpPr>
        <p:grpSpPr>
          <a:xfrm flipH="1">
            <a:off x="-131100" y="313050"/>
            <a:ext cx="6464400" cy="0"/>
            <a:chOff x="2220050" y="1547100"/>
            <a:chExt cx="6464400" cy="0"/>
          </a:xfrm>
        </p:grpSpPr>
        <p:cxnSp>
          <p:nvCxnSpPr>
            <p:cNvPr id="187" name="Google Shape;187;p23"/>
            <p:cNvCxnSpPr/>
            <p:nvPr/>
          </p:nvCxnSpPr>
          <p:spPr>
            <a:xfrm>
              <a:off x="2220050" y="1547100"/>
              <a:ext cx="464400" cy="0"/>
            </a:xfrm>
            <a:prstGeom prst="straightConnector1">
              <a:avLst/>
            </a:prstGeom>
            <a:noFill/>
            <a:ln w="1143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8" name="Google Shape;188;p23"/>
            <p:cNvCxnSpPr/>
            <p:nvPr/>
          </p:nvCxnSpPr>
          <p:spPr>
            <a:xfrm>
              <a:off x="2684450" y="1547100"/>
              <a:ext cx="60000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/>
              <a:buNone/>
              <a:defRPr sz="28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●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lvl="1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○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lvl="2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■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lvl="3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●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lvl="4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○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lvl="5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■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lvl="6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●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lvl="7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○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lvl="8" indent="-3048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Poppins"/>
              <a:buChar char="■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4" r:id="rId2"/>
    <p:sldLayoutId id="2147483655" r:id="rId3"/>
    <p:sldLayoutId id="2147483658" r:id="rId4"/>
    <p:sldLayoutId id="2147483660" r:id="rId5"/>
    <p:sldLayoutId id="2147483669" r:id="rId6"/>
  </p:sldLayoutIdLst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>
            <a:spLocks noGrp="1"/>
          </p:cNvSpPr>
          <p:nvPr>
            <p:ph type="ctrTitle"/>
          </p:nvPr>
        </p:nvSpPr>
        <p:spPr>
          <a:xfrm>
            <a:off x="2106524" y="2020212"/>
            <a:ext cx="6350100" cy="1431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bg-BG" sz="2800" b="1" dirty="0">
                <a:latin typeface="+mj-lt"/>
              </a:rPr>
              <a:t>Система за управление на екзотични туристически дестинации</a:t>
            </a:r>
            <a:endParaRPr sz="2800" dirty="0">
              <a:latin typeface="+mj-lt"/>
            </a:endParaRPr>
          </a:p>
        </p:txBody>
      </p:sp>
      <p:sp>
        <p:nvSpPr>
          <p:cNvPr id="206" name="Google Shape;206;p28"/>
          <p:cNvSpPr txBox="1">
            <a:spLocks noGrp="1"/>
          </p:cNvSpPr>
          <p:nvPr>
            <p:ph type="subTitle" idx="1"/>
          </p:nvPr>
        </p:nvSpPr>
        <p:spPr>
          <a:xfrm>
            <a:off x="2153197" y="4103707"/>
            <a:ext cx="63501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bg-BG" sz="1400" dirty="0">
                <a:latin typeface="+mj-lt"/>
              </a:rPr>
              <a:t>Жасмина Стоянова Михалева </a:t>
            </a:r>
            <a:r>
              <a:rPr lang="en-US" sz="1400" dirty="0">
                <a:latin typeface="+mj-lt"/>
              </a:rPr>
              <a:t>XII</a:t>
            </a:r>
            <a:r>
              <a:rPr lang="bg-BG" sz="1400" dirty="0">
                <a:latin typeface="+mj-lt"/>
              </a:rPr>
              <a:t>Г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bg-BG" sz="1400" dirty="0">
                <a:latin typeface="+mj-lt"/>
              </a:rPr>
              <a:t>Ръководител: Калоян Тотев</a:t>
            </a:r>
            <a:endParaRPr sz="1400" dirty="0">
              <a:latin typeface="+mj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040C0B4-66F4-56BE-38C3-386D3F5FCD19}"/>
              </a:ext>
            </a:extLst>
          </p:cNvPr>
          <p:cNvSpPr txBox="1"/>
          <p:nvPr/>
        </p:nvSpPr>
        <p:spPr>
          <a:xfrm>
            <a:off x="2271438" y="251141"/>
            <a:ext cx="6113617" cy="99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  <a:buNone/>
            </a:pPr>
            <a:r>
              <a:rPr lang="bg-BG" sz="1600" b="1" dirty="0">
                <a:solidFill>
                  <a:srgbClr val="000000"/>
                </a:solidFill>
                <a:effectLst/>
                <a:latin typeface="+mj-lt"/>
                <a:ea typeface="Calibri" panose="020F0502020204030204" pitchFamily="34" charset="0"/>
              </a:rPr>
              <a:t>ДЪРЖАВЕН ИЗПИТ </a:t>
            </a:r>
            <a:endParaRPr lang="en-150" sz="1100" b="1" dirty="0">
              <a:effectLst/>
              <a:latin typeface="+mj-lt"/>
              <a:ea typeface="Calibri" panose="020F0502020204030204" pitchFamily="34" charset="0"/>
            </a:endParaRP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lang="bg-BG" sz="1600" b="1" dirty="0">
                <a:solidFill>
                  <a:srgbClr val="000000"/>
                </a:solidFill>
                <a:effectLst/>
                <a:latin typeface="+mj-lt"/>
                <a:ea typeface="Calibri" panose="020F0502020204030204" pitchFamily="34" charset="0"/>
              </a:rPr>
              <a:t>ЗА ПРИДОБИВАНЕ НА ТРЕТА СТЕПЕН НА ПРОФЕСИОНАЛНА КВАЛИФИКАЦИЯ</a:t>
            </a:r>
            <a:endParaRPr lang="en-150" sz="1100" b="1" dirty="0">
              <a:effectLst/>
              <a:latin typeface="+mj-lt"/>
              <a:ea typeface="Calibri" panose="020F0502020204030204" pitchFamily="34" charset="0"/>
            </a:endParaRPr>
          </a:p>
        </p:txBody>
      </p:sp>
      <p:sp>
        <p:nvSpPr>
          <p:cNvPr id="7" name="Google Shape;206;p28">
            <a:extLst>
              <a:ext uri="{FF2B5EF4-FFF2-40B4-BE49-F238E27FC236}">
                <a16:creationId xmlns:a16="http://schemas.microsoft.com/office/drawing/2014/main" id="{C969803F-1D3A-0A51-D076-DDD157325045}"/>
              </a:ext>
            </a:extLst>
          </p:cNvPr>
          <p:cNvSpPr txBox="1">
            <a:spLocks/>
          </p:cNvSpPr>
          <p:nvPr/>
        </p:nvSpPr>
        <p:spPr>
          <a:xfrm>
            <a:off x="2106524" y="1221318"/>
            <a:ext cx="6350100" cy="47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oppins"/>
              <a:buNone/>
              <a:defRPr sz="18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oppins"/>
              <a:buNone/>
              <a:defRPr sz="18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oppins"/>
              <a:buNone/>
              <a:defRPr sz="18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oppins"/>
              <a:buNone/>
              <a:defRPr sz="18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oppins"/>
              <a:buNone/>
              <a:defRPr sz="18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oppins"/>
              <a:buNone/>
              <a:defRPr sz="18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oppins"/>
              <a:buNone/>
              <a:defRPr sz="18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oppins"/>
              <a:buNone/>
              <a:defRPr sz="18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indent="0" algn="ctr"/>
            <a:r>
              <a:rPr lang="ru-RU" sz="1400" dirty="0">
                <a:latin typeface="+mj-lt"/>
              </a:rPr>
              <a:t>Индивидуално задание №10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FD8870-7183-9A40-1BEC-45986C138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6716" y="199082"/>
            <a:ext cx="7704000" cy="572700"/>
          </a:xfrm>
        </p:spPr>
        <p:txBody>
          <a:bodyPr/>
          <a:lstStyle/>
          <a:p>
            <a:pPr algn="ctr"/>
            <a:r>
              <a:rPr lang="bg-BG" dirty="0">
                <a:latin typeface="+mj-lt"/>
              </a:rPr>
              <a:t>Въведение</a:t>
            </a:r>
            <a:endParaRPr lang="en-150" dirty="0">
              <a:latin typeface="+mj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729B77-5756-8F7A-BC13-D83086553182}"/>
              </a:ext>
            </a:extLst>
          </p:cNvPr>
          <p:cNvSpPr txBox="1"/>
          <p:nvPr/>
        </p:nvSpPr>
        <p:spPr>
          <a:xfrm>
            <a:off x="717877" y="1117484"/>
            <a:ext cx="7802839" cy="205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just">
              <a:lnSpc>
                <a:spcPct val="115000"/>
              </a:lnSpc>
            </a:pPr>
            <a:endParaRPr lang="en-US" sz="1400" dirty="0">
              <a:effectLst/>
              <a:latin typeface="+mj-lt"/>
              <a:ea typeface="Times New Roman" panose="02020603050405020304" pitchFamily="18" charset="0"/>
              <a:cs typeface="Calibri" panose="020F0502020204030204" pitchFamily="34" charset="0"/>
            </a:endParaRPr>
          </a:p>
          <a:p>
            <a:pPr marL="342900" lvl="0" indent="-342900" algn="just">
              <a:lnSpc>
                <a:spcPct val="115000"/>
              </a:lnSpc>
              <a:buFont typeface="Symbol" panose="05050102010706020507" pitchFamily="18" charset="2"/>
              <a:buChar char=""/>
            </a:pPr>
            <a:r>
              <a:rPr lang="ru-RU" sz="1400" dirty="0">
                <a:effectLst/>
                <a:latin typeface="+mj-lt"/>
                <a:ea typeface="Times New Roman" panose="02020603050405020304" pitchFamily="18" charset="0"/>
                <a:cs typeface="Calibri" panose="020F0502020204030204" pitchFamily="34" charset="0"/>
              </a:rPr>
              <a:t>Цел на проекта: Разработване на мащабируемо и сигурно приложение за управление на туристически дестинации, което да предоставя лесен достъп до екзотични места, интегрирано с бекенд система, изградена с Java и Spring Boot</a:t>
            </a:r>
            <a:endParaRPr lang="en-US" sz="1400" dirty="0">
              <a:effectLst/>
              <a:latin typeface="+mj-lt"/>
              <a:ea typeface="Times New Roman" panose="02020603050405020304" pitchFamily="18" charset="0"/>
              <a:cs typeface="Calibri" panose="020F0502020204030204" pitchFamily="34" charset="0"/>
            </a:endParaRPr>
          </a:p>
          <a:p>
            <a:pPr lvl="0" algn="just">
              <a:lnSpc>
                <a:spcPct val="115000"/>
              </a:lnSpc>
            </a:pPr>
            <a:endParaRPr lang="en-US" sz="1400" dirty="0">
              <a:effectLst/>
              <a:latin typeface="+mj-lt"/>
              <a:ea typeface="Times New Roman" panose="02020603050405020304" pitchFamily="18" charset="0"/>
              <a:cs typeface="Calibri" panose="020F0502020204030204" pitchFamily="34" charset="0"/>
            </a:endParaRPr>
          </a:p>
          <a:p>
            <a:pPr marL="342900" lvl="0" indent="-342900" algn="just">
              <a:lnSpc>
                <a:spcPct val="115000"/>
              </a:lnSpc>
              <a:buFont typeface="Symbol" panose="05050102010706020507" pitchFamily="18" charset="2"/>
              <a:buChar char=""/>
            </a:pPr>
            <a:r>
              <a:rPr lang="ru-RU" dirty="0">
                <a:effectLst/>
                <a:latin typeface="+mj-lt"/>
                <a:ea typeface="Times New Roman" panose="02020603050405020304" pitchFamily="18" charset="0"/>
                <a:cs typeface="Calibri" panose="020F0502020204030204" pitchFamily="34" charset="0"/>
              </a:rPr>
              <a:t>Очаквани резултати: Създаване на ефективна платформа, която улеснява управлението на дестинации, предоставя лесен за използване интерфейс, стабилна бекенд архитектура с използване на Java и Spring Boot</a:t>
            </a:r>
            <a:endParaRPr lang="en-150" dirty="0">
              <a:effectLst/>
              <a:latin typeface="+mj-lt"/>
              <a:ea typeface="Times New Roman" panose="02020603050405020304" pitchFamily="18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7150248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55D02A-6FC0-BC46-AB67-F543812C9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57D372-3F9A-4C3F-5973-CD29911DD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242" y="126560"/>
            <a:ext cx="8415571" cy="557663"/>
          </a:xfrm>
        </p:spPr>
        <p:txBody>
          <a:bodyPr/>
          <a:lstStyle/>
          <a:p>
            <a:pPr algn="ctr"/>
            <a:r>
              <a:rPr lang="ru-RU" sz="2400" dirty="0">
                <a:latin typeface="+mj-lt"/>
              </a:rPr>
              <a:t>Основни функционалности на приложението</a:t>
            </a:r>
            <a:endParaRPr lang="en-150" sz="2400" dirty="0">
              <a:latin typeface="+mj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0AAAB0-1A0A-FDF4-012B-8A8D19BFCD77}"/>
              </a:ext>
            </a:extLst>
          </p:cNvPr>
          <p:cNvSpPr txBox="1"/>
          <p:nvPr/>
        </p:nvSpPr>
        <p:spPr>
          <a:xfrm>
            <a:off x="806165" y="832420"/>
            <a:ext cx="7802839" cy="36591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effectLst/>
                <a:latin typeface="+mj-lt"/>
                <a:ea typeface="Calibri" panose="020F0502020204030204" pitchFamily="34" charset="0"/>
              </a:rPr>
              <a:t>Регистрация</a:t>
            </a:r>
            <a:r>
              <a:rPr lang="en-US" sz="1200" b="1" dirty="0">
                <a:effectLst/>
                <a:latin typeface="+mj-lt"/>
                <a:ea typeface="Calibri" panose="020F0502020204030204" pitchFamily="34" charset="0"/>
              </a:rPr>
              <a:t> и </a:t>
            </a:r>
            <a:r>
              <a:rPr lang="en-US" sz="1200" b="1" dirty="0" err="1">
                <a:effectLst/>
                <a:latin typeface="+mj-lt"/>
                <a:ea typeface="Calibri" panose="020F0502020204030204" pitchFamily="34" charset="0"/>
              </a:rPr>
              <a:t>автентикация</a:t>
            </a:r>
            <a:r>
              <a:rPr lang="en-US" sz="1200" b="1" dirty="0">
                <a:effectLst/>
                <a:latin typeface="+mj-lt"/>
                <a:ea typeface="Calibri" panose="020F0502020204030204" pitchFamily="34" charset="0"/>
              </a:rPr>
              <a:t> </a:t>
            </a:r>
            <a:r>
              <a:rPr lang="en-US" sz="1200" b="1" dirty="0" err="1">
                <a:effectLst/>
                <a:latin typeface="+mj-lt"/>
                <a:ea typeface="Calibri" panose="020F0502020204030204" pitchFamily="34" charset="0"/>
              </a:rPr>
              <a:t>на</a:t>
            </a:r>
            <a:r>
              <a:rPr lang="en-US" sz="1200" b="1" dirty="0">
                <a:effectLst/>
                <a:latin typeface="+mj-lt"/>
                <a:ea typeface="Calibri" panose="020F0502020204030204" pitchFamily="34" charset="0"/>
              </a:rPr>
              <a:t> </a:t>
            </a:r>
            <a:r>
              <a:rPr lang="en-US" sz="1200" b="1" dirty="0" err="1">
                <a:effectLst/>
                <a:latin typeface="+mj-lt"/>
                <a:ea typeface="Calibri" panose="020F0502020204030204" pitchFamily="34" charset="0"/>
              </a:rPr>
              <a:t>потребители</a:t>
            </a:r>
            <a:r>
              <a:rPr lang="en-US" sz="1200" b="1" dirty="0">
                <a:effectLst/>
                <a:latin typeface="+mj-lt"/>
                <a:ea typeface="Calibri" panose="020F0502020204030204" pitchFamily="34" charset="0"/>
              </a:rPr>
              <a:t> </a:t>
            </a:r>
            <a:r>
              <a:rPr lang="en-US" sz="1200" dirty="0">
                <a:effectLst/>
                <a:latin typeface="+mj-lt"/>
                <a:ea typeface="Calibri" panose="020F0502020204030204" pitchFamily="34" charset="0"/>
              </a:rPr>
              <a:t>-</a:t>
            </a:r>
            <a:r>
              <a:rPr lang="en-US" sz="1200" dirty="0">
                <a:latin typeface="+mj-lt"/>
                <a:ea typeface="Calibri" panose="020F0502020204030204" pitchFamily="34" charset="0"/>
              </a:rPr>
              <a:t> </a:t>
            </a:r>
            <a:r>
              <a:rPr lang="bg-BG" sz="1200" dirty="0">
                <a:latin typeface="+mj-lt"/>
                <a:ea typeface="Calibri" panose="020F0502020204030204" pitchFamily="34" charset="0"/>
              </a:rPr>
              <a:t>и</a:t>
            </a:r>
            <a:r>
              <a:rPr lang="ru-RU" sz="1200" dirty="0">
                <a:effectLst/>
                <a:latin typeface="+mj-lt"/>
                <a:ea typeface="Calibri" panose="020F0502020204030204" pitchFamily="34" charset="0"/>
              </a:rPr>
              <a:t>зползване на Spring Security за защита и управление на потребителски права</a:t>
            </a:r>
            <a:r>
              <a:rPr lang="en-US" sz="1200" dirty="0">
                <a:effectLst/>
                <a:latin typeface="+mj-lt"/>
                <a:ea typeface="Calibri" panose="020F0502020204030204" pitchFamily="34" charset="0"/>
              </a:rPr>
              <a:t> </a:t>
            </a:r>
            <a:endParaRPr lang="bg-BG" sz="1200" dirty="0">
              <a:latin typeface="+mj-lt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bg-BG" sz="1200" b="1" dirty="0">
                <a:effectLst/>
                <a:latin typeface="+mj-lt"/>
                <a:ea typeface="Times New Roman" panose="02020603050405020304" pitchFamily="18" charset="0"/>
                <a:cs typeface="Calibri" panose="020F0502020204030204" pitchFamily="34" charset="0"/>
              </a:rPr>
              <a:t>Управление на туристически дестинации </a:t>
            </a:r>
            <a:r>
              <a:rPr lang="bg-BG" sz="1200" dirty="0">
                <a:effectLst/>
                <a:latin typeface="+mj-lt"/>
                <a:ea typeface="Times New Roman" panose="02020603050405020304" pitchFamily="18" charset="0"/>
                <a:cs typeface="Calibri" panose="020F0502020204030204" pitchFamily="34" charset="0"/>
              </a:rPr>
              <a:t>– </a:t>
            </a:r>
            <a:r>
              <a:rPr lang="ru-RU" sz="1200" dirty="0">
                <a:effectLst/>
                <a:latin typeface="+mj-lt"/>
                <a:ea typeface="Times New Roman" panose="02020603050405020304" pitchFamily="18" charset="0"/>
                <a:cs typeface="Calibri" panose="020F0502020204030204" pitchFamily="34" charset="0"/>
              </a:rPr>
              <a:t>възможност за добавяне, редактиране и изтриване на дестинации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bg-BG" sz="1200" b="1" dirty="0">
                <a:effectLst/>
                <a:latin typeface="+mj-lt"/>
                <a:ea typeface="Times New Roman" panose="02020603050405020304" pitchFamily="18" charset="0"/>
                <a:cs typeface="Calibri" panose="020F0502020204030204" pitchFamily="34" charset="0"/>
              </a:rPr>
              <a:t>Онлайн резервации </a:t>
            </a:r>
            <a:r>
              <a:rPr lang="bg-BG" sz="1200" dirty="0">
                <a:effectLst/>
                <a:latin typeface="+mj-lt"/>
                <a:ea typeface="Times New Roman" panose="02020603050405020304" pitchFamily="18" charset="0"/>
                <a:cs typeface="Calibri" panose="020F0502020204030204" pitchFamily="34" charset="0"/>
              </a:rPr>
              <a:t>– </a:t>
            </a:r>
            <a:r>
              <a:rPr lang="ru-RU" sz="1200" dirty="0">
                <a:effectLst/>
                <a:latin typeface="+mj-lt"/>
                <a:ea typeface="Times New Roman" panose="02020603050405020304" pitchFamily="18" charset="0"/>
                <a:cs typeface="Calibri" panose="020F0502020204030204" pitchFamily="34" charset="0"/>
              </a:rPr>
              <a:t>потребителите могат да правят резервации в реално време с възможност за автоматизирани потвърждения и известия за статусите на резервациите</a:t>
            </a:r>
            <a:endParaRPr lang="en-150" sz="1200" dirty="0">
              <a:effectLst/>
              <a:latin typeface="+mj-lt"/>
              <a:ea typeface="Times New Roman" panose="02020603050405020304" pitchFamily="18" charset="0"/>
              <a:cs typeface="Calibri" panose="020F0502020204030204" pitchFamily="34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bg-BG" sz="1200" b="1" dirty="0">
                <a:effectLst/>
                <a:latin typeface="+mj-lt"/>
                <a:ea typeface="Times New Roman" panose="02020603050405020304" pitchFamily="18" charset="0"/>
                <a:cs typeface="Calibri" panose="020F0502020204030204" pitchFamily="34" charset="0"/>
              </a:rPr>
              <a:t>Филтриране и сортиране на дестинации </a:t>
            </a:r>
            <a:r>
              <a:rPr lang="bg-BG" sz="1200" dirty="0">
                <a:effectLst/>
                <a:latin typeface="+mj-lt"/>
                <a:ea typeface="Times New Roman" panose="02020603050405020304" pitchFamily="18" charset="0"/>
                <a:cs typeface="Calibri" panose="020F0502020204030204" pitchFamily="34" charset="0"/>
              </a:rPr>
              <a:t>- </a:t>
            </a:r>
            <a:r>
              <a:rPr lang="ru-RU" sz="1200" dirty="0">
                <a:latin typeface="+mj-lt"/>
                <a:ea typeface="Times New Roman" panose="02020603050405020304" pitchFamily="18" charset="0"/>
                <a:cs typeface="Calibri" panose="020F0502020204030204" pitchFamily="34" charset="0"/>
              </a:rPr>
              <a:t>в</a:t>
            </a:r>
            <a:r>
              <a:rPr lang="ru-RU" sz="1200" dirty="0">
                <a:effectLst/>
                <a:latin typeface="+mj-lt"/>
                <a:ea typeface="Times New Roman" panose="02020603050405020304" pitchFamily="18" charset="0"/>
                <a:cs typeface="Calibri" panose="020F0502020204030204" pitchFamily="34" charset="0"/>
              </a:rPr>
              <a:t>ъзможност за сортиране на дестинациите по различни критерии, като цена, популярност и рейтинг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bg-BG" sz="1200" b="1" dirty="0">
                <a:effectLst/>
                <a:latin typeface="+mj-lt"/>
                <a:ea typeface="Times New Roman" panose="02020603050405020304" pitchFamily="18" charset="0"/>
                <a:cs typeface="Calibri" panose="020F0502020204030204" pitchFamily="34" charset="0"/>
              </a:rPr>
              <a:t>Управление на наличности и оферти </a:t>
            </a:r>
            <a:r>
              <a:rPr lang="bg-BG" sz="1200" dirty="0">
                <a:effectLst/>
                <a:latin typeface="+mj-lt"/>
                <a:ea typeface="Times New Roman" panose="02020603050405020304" pitchFamily="18" charset="0"/>
                <a:cs typeface="Calibri" panose="020F0502020204030204" pitchFamily="34" charset="0"/>
              </a:rPr>
              <a:t>- </a:t>
            </a:r>
            <a:r>
              <a:rPr lang="ru-RU" sz="1200" dirty="0">
                <a:latin typeface="+mj-lt"/>
                <a:ea typeface="Times New Roman" panose="02020603050405020304" pitchFamily="18" charset="0"/>
                <a:cs typeface="Calibri" panose="020F0502020204030204" pitchFamily="34" charset="0"/>
              </a:rPr>
              <a:t>пл</a:t>
            </a:r>
            <a:r>
              <a:rPr lang="ru-RU" sz="1200" dirty="0">
                <a:effectLst/>
                <a:latin typeface="+mj-lt"/>
                <a:ea typeface="Times New Roman" panose="02020603050405020304" pitchFamily="18" charset="0"/>
                <a:cs typeface="Calibri" panose="020F0502020204030204" pitchFamily="34" charset="0"/>
              </a:rPr>
              <a:t>атформата предлага информация за наличните дестинации, както и автоматизирани промоционални оферти и кампании</a:t>
            </a:r>
            <a:endParaRPr lang="en-150" sz="1200" dirty="0">
              <a:effectLst/>
              <a:latin typeface="+mj-lt"/>
              <a:ea typeface="Times New Roman" panose="02020603050405020304" pitchFamily="18" charset="0"/>
              <a:cs typeface="Calibri" panose="020F0502020204030204" pitchFamily="34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bg-BG" sz="1200" b="1" dirty="0">
                <a:effectLst/>
                <a:latin typeface="+mj-lt"/>
                <a:ea typeface="Times New Roman" panose="02020603050405020304" pitchFamily="18" charset="0"/>
                <a:cs typeface="Calibri" panose="020F0502020204030204" pitchFamily="34" charset="0"/>
              </a:rPr>
              <a:t>Проследяване на резервации и плащания </a:t>
            </a:r>
            <a:r>
              <a:rPr lang="bg-BG" sz="1200" dirty="0">
                <a:effectLst/>
                <a:latin typeface="+mj-lt"/>
                <a:ea typeface="Times New Roman" panose="02020603050405020304" pitchFamily="18" charset="0"/>
                <a:cs typeface="Calibri" panose="020F0502020204030204" pitchFamily="34" charset="0"/>
              </a:rPr>
              <a:t>- </a:t>
            </a:r>
            <a:r>
              <a:rPr lang="ru-RU" sz="1200" dirty="0">
                <a:latin typeface="+mj-lt"/>
                <a:ea typeface="Times New Roman" panose="02020603050405020304" pitchFamily="18" charset="0"/>
                <a:cs typeface="Calibri" panose="020F0502020204030204" pitchFamily="34" charset="0"/>
              </a:rPr>
              <a:t>с</a:t>
            </a:r>
            <a:r>
              <a:rPr lang="ru-RU" sz="1200" dirty="0">
                <a:effectLst/>
                <a:latin typeface="+mj-lt"/>
                <a:ea typeface="Times New Roman" panose="02020603050405020304" pitchFamily="18" charset="0"/>
                <a:cs typeface="Calibri" panose="020F0502020204030204" pitchFamily="34" charset="0"/>
              </a:rPr>
              <a:t>истемата позволява проследяване на направените резервации и плащания, като се интегрира с различни платежни системи</a:t>
            </a:r>
            <a:endParaRPr lang="en-150" sz="1200" dirty="0">
              <a:effectLst/>
              <a:latin typeface="+mj-lt"/>
              <a:ea typeface="Times New Roman" panose="02020603050405020304" pitchFamily="18" charset="0"/>
              <a:cs typeface="Calibri" panose="020F0502020204030204" pitchFamily="34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bg-BG" sz="1200" b="1" dirty="0">
                <a:effectLst/>
                <a:latin typeface="+mj-lt"/>
                <a:ea typeface="Times New Roman" panose="02020603050405020304" pitchFamily="18" charset="0"/>
                <a:cs typeface="Calibri" panose="020F0502020204030204" pitchFamily="34" charset="0"/>
              </a:rPr>
              <a:t>Отчети и статистики </a:t>
            </a:r>
            <a:r>
              <a:rPr lang="bg-BG" sz="1200" dirty="0">
                <a:effectLst/>
                <a:latin typeface="+mj-lt"/>
                <a:ea typeface="Times New Roman" panose="02020603050405020304" pitchFamily="18" charset="0"/>
                <a:cs typeface="Calibri" panose="020F0502020204030204" pitchFamily="34" charset="0"/>
              </a:rPr>
              <a:t>- </a:t>
            </a:r>
            <a:r>
              <a:rPr lang="ru-RU" sz="1200" dirty="0">
                <a:latin typeface="+mj-lt"/>
                <a:ea typeface="Times New Roman" panose="02020603050405020304" pitchFamily="18" charset="0"/>
                <a:cs typeface="Calibri" panose="020F0502020204030204" pitchFamily="34" charset="0"/>
              </a:rPr>
              <a:t>г</a:t>
            </a:r>
            <a:r>
              <a:rPr lang="ru-RU" sz="1200" dirty="0">
                <a:effectLst/>
                <a:latin typeface="+mj-lt"/>
                <a:ea typeface="Times New Roman" panose="02020603050405020304" pitchFamily="18" charset="0"/>
                <a:cs typeface="Calibri" panose="020F0502020204030204" pitchFamily="34" charset="0"/>
              </a:rPr>
              <a:t>енериране на отчети за завършени резервации и анализ на събраните данни</a:t>
            </a:r>
            <a:endParaRPr lang="en-150" sz="1200" dirty="0">
              <a:effectLst/>
              <a:latin typeface="+mj-lt"/>
              <a:ea typeface="Times New Roman" panose="02020603050405020304" pitchFamily="18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899184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6E3A5-63E7-D646-05C8-2F7B4D3CD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03A207-3CBA-DC7C-0DFE-D4C779DA62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079" y="80882"/>
            <a:ext cx="8415571" cy="557663"/>
          </a:xfrm>
        </p:spPr>
        <p:txBody>
          <a:bodyPr/>
          <a:lstStyle/>
          <a:p>
            <a:pPr algn="ctr"/>
            <a:r>
              <a:rPr lang="bg-BG" dirty="0">
                <a:latin typeface="+mj-lt"/>
              </a:rPr>
              <a:t>Използвани технологии</a:t>
            </a:r>
            <a:endParaRPr lang="en-150" dirty="0">
              <a:latin typeface="+mj-lt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E072770-C230-DF74-EECE-0E734636FA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129" y="1871755"/>
            <a:ext cx="366783" cy="682260"/>
          </a:xfrm>
          <a:prstGeom prst="rect">
            <a:avLst/>
          </a:prstGeom>
        </p:spPr>
      </p:pic>
      <p:pic>
        <p:nvPicPr>
          <p:cNvPr id="5" name="Picture 4" descr="Thymeleaf">
            <a:extLst>
              <a:ext uri="{FF2B5EF4-FFF2-40B4-BE49-F238E27FC236}">
                <a16:creationId xmlns:a16="http://schemas.microsoft.com/office/drawing/2014/main" id="{482FA365-6076-6329-48A9-37B76333DD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9912" y="1947758"/>
            <a:ext cx="522366" cy="5223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7262834-25F5-3B47-AEC1-C239483B2E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8467" y="1947759"/>
            <a:ext cx="522157" cy="52236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6B583D6-9C08-AC77-3C52-814B119710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006" y="2728185"/>
            <a:ext cx="472550" cy="54117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D92C97A-B9FD-7970-54D4-E24C337F63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08074" y="2728185"/>
            <a:ext cx="472550" cy="54117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34D97A2-BBFE-DFE4-0BF8-791E0B98020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9912" y="2746989"/>
            <a:ext cx="522366" cy="522366"/>
          </a:xfrm>
          <a:prstGeom prst="rect">
            <a:avLst/>
          </a:prstGeom>
        </p:spPr>
      </p:pic>
      <p:pic>
        <p:nvPicPr>
          <p:cNvPr id="1026" name="Picture 2" descr="Tailwind CSS Basics. I spent the past week building a… | by starrdev |  Medium">
            <a:extLst>
              <a:ext uri="{FF2B5EF4-FFF2-40B4-BE49-F238E27FC236}">
                <a16:creationId xmlns:a16="http://schemas.microsoft.com/office/drawing/2014/main" id="{9D2BC93E-9CE7-4E51-63B0-5DBCB8E91FC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601" b="26827"/>
          <a:stretch/>
        </p:blipFill>
        <p:spPr bwMode="auto">
          <a:xfrm>
            <a:off x="498191" y="3514945"/>
            <a:ext cx="1961094" cy="4468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18BD09C-0DF0-5EAA-E43D-1884F485FDC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86624" y="1905780"/>
            <a:ext cx="564344" cy="56434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6135E45-6E41-8DEF-D87B-90901F4D8BB6}"/>
              </a:ext>
            </a:extLst>
          </p:cNvPr>
          <p:cNvSpPr txBox="1"/>
          <p:nvPr/>
        </p:nvSpPr>
        <p:spPr>
          <a:xfrm>
            <a:off x="433087" y="1071209"/>
            <a:ext cx="2793649" cy="6121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lnSpc>
                <a:spcPct val="150000"/>
              </a:lnSpc>
            </a:pPr>
            <a:r>
              <a:rPr lang="bg-BG" sz="1200" b="1" dirty="0">
                <a:latin typeface="+mj-lt"/>
                <a:ea typeface="Times New Roman" panose="02020603050405020304" pitchFamily="18" charset="0"/>
                <a:cs typeface="Calibri" panose="020F0502020204030204" pitchFamily="34" charset="0"/>
              </a:rPr>
              <a:t>Технологии, използвани за разработката на приложението</a:t>
            </a:r>
          </a:p>
        </p:txBody>
      </p:sp>
      <p:pic>
        <p:nvPicPr>
          <p:cNvPr id="1028" name="Picture 4" descr="Spring Security Tutorials - Java Code Geeks">
            <a:extLst>
              <a:ext uri="{FF2B5EF4-FFF2-40B4-BE49-F238E27FC236}">
                <a16:creationId xmlns:a16="http://schemas.microsoft.com/office/drawing/2014/main" id="{C3B8D2D8-37CA-4708-0EEB-6A76971417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7167" y="2686206"/>
            <a:ext cx="596012" cy="5960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AA4324D2-DA15-A441-AF1B-07677023627A}"/>
              </a:ext>
            </a:extLst>
          </p:cNvPr>
          <p:cNvSpPr txBox="1"/>
          <p:nvPr/>
        </p:nvSpPr>
        <p:spPr>
          <a:xfrm>
            <a:off x="3153179" y="1067689"/>
            <a:ext cx="2964738" cy="6121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lnSpc>
                <a:spcPct val="150000"/>
              </a:lnSpc>
            </a:pPr>
            <a:r>
              <a:rPr lang="bg-BG" sz="1200" b="1" dirty="0">
                <a:latin typeface="+mj-lt"/>
                <a:ea typeface="Times New Roman" panose="02020603050405020304" pitchFamily="18" charset="0"/>
                <a:cs typeface="Calibri" panose="020F0502020204030204" pitchFamily="34" charset="0"/>
              </a:rPr>
              <a:t>Технология, използвана за създаването на </a:t>
            </a:r>
            <a:r>
              <a:rPr lang="de-DE" sz="1200" b="1" dirty="0">
                <a:latin typeface="+mj-lt"/>
                <a:ea typeface="Times New Roman" panose="02020603050405020304" pitchFamily="18" charset="0"/>
                <a:cs typeface="Calibri" panose="020F0502020204030204" pitchFamily="34" charset="0"/>
              </a:rPr>
              <a:t>UML </a:t>
            </a:r>
            <a:r>
              <a:rPr lang="bg-BG" sz="1200" b="1" dirty="0">
                <a:latin typeface="+mj-lt"/>
                <a:ea typeface="Times New Roman" panose="02020603050405020304" pitchFamily="18" charset="0"/>
                <a:cs typeface="Calibri" panose="020F0502020204030204" pitchFamily="34" charset="0"/>
              </a:rPr>
              <a:t>диаграмите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A3872EE-36A0-C62A-F3EB-62F51B706A4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91292" y="3410476"/>
            <a:ext cx="559676" cy="559676"/>
          </a:xfrm>
          <a:prstGeom prst="rect">
            <a:avLst/>
          </a:prstGeom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C31362A6-94B5-A0E5-4274-6C41062D3E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5156" y="2012257"/>
            <a:ext cx="1347898" cy="13478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765F8CD5-CFF7-2B5E-D7C1-5FA5C0ED6C10}"/>
              </a:ext>
            </a:extLst>
          </p:cNvPr>
          <p:cNvSpPr txBox="1"/>
          <p:nvPr/>
        </p:nvSpPr>
        <p:spPr>
          <a:xfrm>
            <a:off x="5977462" y="1057103"/>
            <a:ext cx="2964738" cy="6121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lnSpc>
                <a:spcPct val="150000"/>
              </a:lnSpc>
            </a:pPr>
            <a:r>
              <a:rPr lang="bg-BG" sz="1200" b="1" dirty="0">
                <a:latin typeface="+mj-lt"/>
                <a:ea typeface="Times New Roman" panose="02020603050405020304" pitchFamily="18" charset="0"/>
                <a:cs typeface="Calibri" panose="020F0502020204030204" pitchFamily="34" charset="0"/>
              </a:rPr>
              <a:t>Приложения, използвани за разработката на проекта</a:t>
            </a:r>
          </a:p>
        </p:txBody>
      </p:sp>
      <p:pic>
        <p:nvPicPr>
          <p:cNvPr id="21" name="Picture 20" descr="Git">
            <a:extLst>
              <a:ext uri="{FF2B5EF4-FFF2-40B4-BE49-F238E27FC236}">
                <a16:creationId xmlns:a16="http://schemas.microsoft.com/office/drawing/2014/main" id="{B255D995-7D9D-BF28-DF7A-2DAF996755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5728" y="1864736"/>
            <a:ext cx="605388" cy="6053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619A1608-689E-76B3-43EE-F47510500710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225138" y="1904993"/>
            <a:ext cx="563775" cy="565131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8E081871-785B-3DC6-F0B4-BAAEFAE06F83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956760" y="1906247"/>
            <a:ext cx="625659" cy="605388"/>
          </a:xfrm>
          <a:prstGeom prst="rect">
            <a:avLst/>
          </a:prstGeom>
        </p:spPr>
      </p:pic>
      <p:pic>
        <p:nvPicPr>
          <p:cNvPr id="1036" name="Picture 12" descr="Microsoft Word - Wikipedia">
            <a:extLst>
              <a:ext uri="{FF2B5EF4-FFF2-40B4-BE49-F238E27FC236}">
                <a16:creationId xmlns:a16="http://schemas.microsoft.com/office/drawing/2014/main" id="{43E39246-6D5A-12E4-077C-70BDA7FD0B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0909" y="2753756"/>
            <a:ext cx="650045" cy="6053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Microsoft PowerPoint - Wikipedia">
            <a:extLst>
              <a:ext uri="{FF2B5EF4-FFF2-40B4-BE49-F238E27FC236}">
                <a16:creationId xmlns:a16="http://schemas.microsoft.com/office/drawing/2014/main" id="{B34FE40A-3181-2B97-D378-4C224A79A2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70733" y="2753756"/>
            <a:ext cx="650046" cy="6053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9987686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07D48-3A23-EE12-5FB7-6E029F32A2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B51EF1-CE5B-BEA0-C2BF-72CC57056B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5767" y="1471400"/>
            <a:ext cx="5867895" cy="1795215"/>
          </a:xfrm>
        </p:spPr>
        <p:txBody>
          <a:bodyPr/>
          <a:lstStyle/>
          <a:p>
            <a:pPr algn="ctr"/>
            <a:r>
              <a:rPr lang="bg-BG" sz="4400" dirty="0">
                <a:latin typeface="+mj-lt"/>
              </a:rPr>
              <a:t>Нека преминем към самия проект!</a:t>
            </a:r>
            <a:endParaRPr lang="en-150" sz="44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69606330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2A046F-AF5A-9208-E291-5EBE5A98FF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1481" y="1278721"/>
            <a:ext cx="4913124" cy="2656351"/>
          </a:xfrm>
        </p:spPr>
        <p:txBody>
          <a:bodyPr/>
          <a:lstStyle/>
          <a:p>
            <a:pPr algn="ctr"/>
            <a:r>
              <a:rPr lang="bg-BG" dirty="0">
                <a:latin typeface="+mj-lt"/>
              </a:rPr>
              <a:t>Благодаря за вниманието!</a:t>
            </a:r>
            <a:endParaRPr lang="en-150" dirty="0"/>
          </a:p>
        </p:txBody>
      </p:sp>
    </p:spTree>
    <p:extLst>
      <p:ext uri="{BB962C8B-B14F-4D97-AF65-F5344CB8AC3E}">
        <p14:creationId xmlns:p14="http://schemas.microsoft.com/office/powerpoint/2010/main" val="66770101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Clean and Neat Style Portfolio by Slidesgo">
  <a:themeElements>
    <a:clrScheme name="Simple Light">
      <a:dk1>
        <a:srgbClr val="191919"/>
      </a:dk1>
      <a:lt1>
        <a:srgbClr val="FFFFFF"/>
      </a:lt1>
      <a:dk2>
        <a:srgbClr val="45818E"/>
      </a:dk2>
      <a:lt2>
        <a:srgbClr val="D9D9D9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91919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79</TotalTime>
  <Words>267</Words>
  <Application>Microsoft Office PowerPoint</Application>
  <PresentationFormat>On-screen Show (16:9)</PresentationFormat>
  <Paragraphs>25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Symbol</vt:lpstr>
      <vt:lpstr>Arial</vt:lpstr>
      <vt:lpstr>Poppins</vt:lpstr>
      <vt:lpstr>Clean and Neat Style Portfolio by Slidesgo</vt:lpstr>
      <vt:lpstr>Система за управление на екзотични туристически дестинации</vt:lpstr>
      <vt:lpstr>Въведение</vt:lpstr>
      <vt:lpstr>Основни функционалности на приложението</vt:lpstr>
      <vt:lpstr>Използвани технологии</vt:lpstr>
      <vt:lpstr>Нека преминем към самия проект!</vt:lpstr>
      <vt:lpstr>Благодаря за вниманието!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Жасмина Стоянова Михалева</cp:lastModifiedBy>
  <cp:revision>20</cp:revision>
  <dcterms:modified xsi:type="dcterms:W3CDTF">2025-03-31T21:44:28Z</dcterms:modified>
</cp:coreProperties>
</file>