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8"/>
  </p:notesMasterIdLst>
  <p:sldIdLst>
    <p:sldId id="256" r:id="rId2"/>
    <p:sldId id="297" r:id="rId3"/>
    <p:sldId id="298" r:id="rId4"/>
    <p:sldId id="299" r:id="rId5"/>
    <p:sldId id="300" r:id="rId6"/>
    <p:sldId id="301" r:id="rId7"/>
  </p:sldIdLst>
  <p:sldSz cx="9144000" cy="5143500" type="screen16x9"/>
  <p:notesSz cx="6858000" cy="9144000"/>
  <p:embeddedFontLst>
    <p:embeddedFont>
      <p:font typeface="Poppins" panose="00000500000000000000" pitchFamily="2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FCC171D-37D7-4781-9AD3-47A20CF3058C}">
  <a:tblStyle styleId="{AFCC171D-37D7-4781-9AD3-47A20CF3058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07E568B-AAEE-4FF1-B545-FB886177E61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75d5342532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275d5342532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80675" y="1687650"/>
            <a:ext cx="6350100" cy="143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80675" y="3183000"/>
            <a:ext cx="6350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0"/>
            <a:ext cx="17214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8680750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>
            <a:spLocks noGrp="1"/>
          </p:cNvSpPr>
          <p:nvPr>
            <p:ph type="title"/>
          </p:nvPr>
        </p:nvSpPr>
        <p:spPr>
          <a:xfrm>
            <a:off x="3454075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4" name="Google Shape;54;p8"/>
          <p:cNvSpPr/>
          <p:nvPr/>
        </p:nvSpPr>
        <p:spPr>
          <a:xfrm>
            <a:off x="0" y="0"/>
            <a:ext cx="26607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5" name="Google Shape;55;p8"/>
          <p:cNvCxnSpPr/>
          <p:nvPr/>
        </p:nvCxnSpPr>
        <p:spPr>
          <a:xfrm>
            <a:off x="8430775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6" name="Google Shape;56;p8"/>
          <p:cNvGrpSpPr/>
          <p:nvPr/>
        </p:nvGrpSpPr>
        <p:grpSpPr>
          <a:xfrm>
            <a:off x="3230850" y="4760600"/>
            <a:ext cx="6025500" cy="0"/>
            <a:chOff x="2220050" y="1547100"/>
            <a:chExt cx="6025500" cy="0"/>
          </a:xfrm>
        </p:grpSpPr>
        <p:cxnSp>
          <p:nvCxnSpPr>
            <p:cNvPr id="57" name="Google Shape;57;p8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" name="Google Shape;58;p8"/>
            <p:cNvCxnSpPr/>
            <p:nvPr/>
          </p:nvCxnSpPr>
          <p:spPr>
            <a:xfrm>
              <a:off x="2684450" y="1547100"/>
              <a:ext cx="55611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5555725" y="0"/>
            <a:ext cx="3588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title"/>
          </p:nvPr>
        </p:nvSpPr>
        <p:spPr>
          <a:xfrm>
            <a:off x="713225" y="1254000"/>
            <a:ext cx="41586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713225" y="3218400"/>
            <a:ext cx="41586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cxnSp>
        <p:nvCxnSpPr>
          <p:cNvPr id="63" name="Google Shape;63;p9"/>
          <p:cNvCxnSpPr/>
          <p:nvPr/>
        </p:nvCxnSpPr>
        <p:spPr>
          <a:xfrm>
            <a:off x="517944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4" name="Google Shape;64;p9"/>
          <p:cNvGrpSpPr/>
          <p:nvPr/>
        </p:nvGrpSpPr>
        <p:grpSpPr>
          <a:xfrm flipH="1">
            <a:off x="-93775" y="4604000"/>
            <a:ext cx="4197300" cy="0"/>
            <a:chOff x="2220050" y="1547100"/>
            <a:chExt cx="4197300" cy="0"/>
          </a:xfrm>
        </p:grpSpPr>
        <p:cxnSp>
          <p:nvCxnSpPr>
            <p:cNvPr id="65" name="Google Shape;65;p9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>
              <a:off x="2684450" y="1547100"/>
              <a:ext cx="3732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/>
          <p:nvPr/>
        </p:nvSpPr>
        <p:spPr>
          <a:xfrm>
            <a:off x="0" y="0"/>
            <a:ext cx="4029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98" name="Google Shape;98;p14"/>
          <p:cNvCxnSpPr/>
          <p:nvPr/>
        </p:nvCxnSpPr>
        <p:spPr>
          <a:xfrm>
            <a:off x="8783850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99" name="Google Shape;99;p14"/>
          <p:cNvGrpSpPr/>
          <p:nvPr/>
        </p:nvGrpSpPr>
        <p:grpSpPr>
          <a:xfrm>
            <a:off x="1501085" y="4854300"/>
            <a:ext cx="7698000" cy="0"/>
            <a:chOff x="2220050" y="1547100"/>
            <a:chExt cx="7698000" cy="0"/>
          </a:xfrm>
        </p:grpSpPr>
        <p:cxnSp>
          <p:nvCxnSpPr>
            <p:cNvPr id="100" name="Google Shape;100;p14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1" name="Google Shape;101;p14"/>
            <p:cNvCxnSpPr/>
            <p:nvPr/>
          </p:nvCxnSpPr>
          <p:spPr>
            <a:xfrm>
              <a:off x="2684450" y="1547100"/>
              <a:ext cx="72336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3"/>
          <p:cNvSpPr/>
          <p:nvPr/>
        </p:nvSpPr>
        <p:spPr>
          <a:xfrm>
            <a:off x="6501975" y="0"/>
            <a:ext cx="26421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85" name="Google Shape;185;p23"/>
          <p:cNvCxnSpPr/>
          <p:nvPr/>
        </p:nvCxnSpPr>
        <p:spPr>
          <a:xfrm>
            <a:off x="479225" y="-35700"/>
            <a:ext cx="0" cy="52149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86" name="Google Shape;186;p23"/>
          <p:cNvGrpSpPr/>
          <p:nvPr/>
        </p:nvGrpSpPr>
        <p:grpSpPr>
          <a:xfrm flipH="1">
            <a:off x="-131100" y="313050"/>
            <a:ext cx="6464400" cy="0"/>
            <a:chOff x="2220050" y="1547100"/>
            <a:chExt cx="6464400" cy="0"/>
          </a:xfrm>
        </p:grpSpPr>
        <p:cxnSp>
          <p:nvCxnSpPr>
            <p:cNvPr id="187" name="Google Shape;187;p23"/>
            <p:cNvCxnSpPr/>
            <p:nvPr/>
          </p:nvCxnSpPr>
          <p:spPr>
            <a:xfrm>
              <a:off x="2220050" y="1547100"/>
              <a:ext cx="464400" cy="0"/>
            </a:xfrm>
            <a:prstGeom prst="straightConnector1">
              <a:avLst/>
            </a:prstGeom>
            <a:noFill/>
            <a:ln w="1143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23"/>
            <p:cNvCxnSpPr/>
            <p:nvPr/>
          </p:nvCxnSpPr>
          <p:spPr>
            <a:xfrm>
              <a:off x="2684450" y="1547100"/>
              <a:ext cx="6000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8" r:id="rId4"/>
    <p:sldLayoutId id="2147483660" r:id="rId5"/>
    <p:sldLayoutId id="2147483669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>
            <a:spLocks noGrp="1"/>
          </p:cNvSpPr>
          <p:nvPr>
            <p:ph type="ctrTitle"/>
          </p:nvPr>
        </p:nvSpPr>
        <p:spPr>
          <a:xfrm>
            <a:off x="2106524" y="2020212"/>
            <a:ext cx="6350100" cy="143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2800" b="1" dirty="0">
                <a:latin typeface="+mj-lt"/>
              </a:rPr>
              <a:t>Система за управление на екзотични туристически дестинации</a:t>
            </a:r>
            <a:endParaRPr sz="2800" dirty="0">
              <a:latin typeface="+mj-lt"/>
            </a:endParaRPr>
          </a:p>
        </p:txBody>
      </p:sp>
      <p:sp>
        <p:nvSpPr>
          <p:cNvPr id="206" name="Google Shape;206;p28"/>
          <p:cNvSpPr txBox="1">
            <a:spLocks noGrp="1"/>
          </p:cNvSpPr>
          <p:nvPr>
            <p:ph type="subTitle" idx="1"/>
          </p:nvPr>
        </p:nvSpPr>
        <p:spPr>
          <a:xfrm>
            <a:off x="2153197" y="4103707"/>
            <a:ext cx="6350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400" dirty="0">
                <a:latin typeface="+mj-lt"/>
              </a:rPr>
              <a:t>Жасмина Стоянова Михалева </a:t>
            </a:r>
            <a:r>
              <a:rPr lang="en-US" sz="1400" dirty="0">
                <a:latin typeface="+mj-lt"/>
              </a:rPr>
              <a:t>XII</a:t>
            </a:r>
            <a:r>
              <a:rPr lang="bg-BG" sz="1400" dirty="0">
                <a:latin typeface="+mj-lt"/>
              </a:rPr>
              <a:t>Г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sz="1400" dirty="0">
                <a:latin typeface="+mj-lt"/>
              </a:rPr>
              <a:t>Ръководител: Калоян Тотев</a:t>
            </a:r>
            <a:endParaRPr sz="14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40C0B4-66F4-56BE-38C3-386D3F5FCD19}"/>
              </a:ext>
            </a:extLst>
          </p:cNvPr>
          <p:cNvSpPr txBox="1"/>
          <p:nvPr/>
        </p:nvSpPr>
        <p:spPr>
          <a:xfrm>
            <a:off x="2271438" y="251141"/>
            <a:ext cx="6113617" cy="994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buNone/>
            </a:pPr>
            <a:r>
              <a:rPr lang="bg-BG" sz="16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ДЪРЖАВЕН ИЗПИТ </a:t>
            </a:r>
            <a:endParaRPr lang="en-150" sz="1100" b="1" dirty="0">
              <a:effectLst/>
              <a:latin typeface="+mj-lt"/>
              <a:ea typeface="Calibri" panose="020F0502020204030204" pitchFamily="34" charset="0"/>
            </a:endParaRP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lang="bg-BG" sz="16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ЗА ПРИДОБИВАНЕ НА ТРЕТА СТЕПЕН НА ПРОФЕСИОНАЛНА КВАЛИФИКАЦИЯ</a:t>
            </a:r>
            <a:endParaRPr lang="en-150" sz="1100" b="1" dirty="0">
              <a:effectLst/>
              <a:latin typeface="+mj-lt"/>
              <a:ea typeface="Calibri" panose="020F0502020204030204" pitchFamily="34" charset="0"/>
            </a:endParaRPr>
          </a:p>
        </p:txBody>
      </p:sp>
      <p:sp>
        <p:nvSpPr>
          <p:cNvPr id="7" name="Google Shape;206;p28">
            <a:extLst>
              <a:ext uri="{FF2B5EF4-FFF2-40B4-BE49-F238E27FC236}">
                <a16:creationId xmlns:a16="http://schemas.microsoft.com/office/drawing/2014/main" id="{C969803F-1D3A-0A51-D076-DDD157325045}"/>
              </a:ext>
            </a:extLst>
          </p:cNvPr>
          <p:cNvSpPr txBox="1">
            <a:spLocks/>
          </p:cNvSpPr>
          <p:nvPr/>
        </p:nvSpPr>
        <p:spPr>
          <a:xfrm>
            <a:off x="2106524" y="1221318"/>
            <a:ext cx="63501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oppins"/>
              <a:buNone/>
              <a:defRPr sz="18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 algn="ctr"/>
            <a:r>
              <a:rPr lang="ru-RU" sz="1400" dirty="0">
                <a:latin typeface="+mj-lt"/>
              </a:rPr>
              <a:t>Индивидуално задание №10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D8870-7183-9A40-1BEC-45986C13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716" y="199082"/>
            <a:ext cx="7704000" cy="572700"/>
          </a:xfrm>
        </p:spPr>
        <p:txBody>
          <a:bodyPr/>
          <a:lstStyle/>
          <a:p>
            <a:pPr algn="ctr"/>
            <a:r>
              <a:rPr lang="bg-BG" dirty="0">
                <a:latin typeface="+mj-lt"/>
              </a:rPr>
              <a:t>Въведение</a:t>
            </a:r>
            <a:endParaRPr lang="en-150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729B77-5756-8F7A-BC13-D83086553182}"/>
              </a:ext>
            </a:extLst>
          </p:cNvPr>
          <p:cNvSpPr txBox="1"/>
          <p:nvPr/>
        </p:nvSpPr>
        <p:spPr>
          <a:xfrm>
            <a:off x="678679" y="1153648"/>
            <a:ext cx="7980074" cy="2301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15000"/>
              </a:lnSpc>
            </a:pPr>
            <a:endParaRPr lang="en-US" sz="14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bg-BG" sz="14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Проблем</a:t>
            </a:r>
            <a:r>
              <a:rPr lang="bg-BG" sz="14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: </a:t>
            </a:r>
            <a:r>
              <a:rPr lang="ru-RU" dirty="0"/>
              <a:t>В съвременния туристически сектор, управлението на екзотични дестинации е предизвикателство за компаниите, хотели и курорти. Разпокъсани системи, ръчни резервации и липса на интеграция водят до забавяния, грешки и неудобства за клиентите. Това затруднява както бизнеса, така и самия процес на резервация, като намалява удовлетвореността на клиентите и пропуска бизнес възможности</a:t>
            </a:r>
            <a:endParaRPr lang="en-US" sz="14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ru-RU" sz="14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Решение</a:t>
            </a:r>
            <a:r>
              <a:rPr lang="ru-RU" sz="14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: </a:t>
            </a:r>
            <a:r>
              <a:rPr lang="ru-RU" sz="1400" dirty="0" err="1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Създаване</a:t>
            </a:r>
            <a:r>
              <a:rPr lang="ru-RU" sz="14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 на мащабируемо и сигурно приложение за управление на туристически дестинации, което да предоставя лесен достъп до екзотични места, интегрирано с бекенд система, изградена с Java и Spring Boot</a:t>
            </a:r>
            <a:endParaRPr lang="en-US" sz="14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1502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D02A-6FC0-BC46-AB67-F543812C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7D372-3F9A-4C3F-5973-CD29911DD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242" y="126560"/>
            <a:ext cx="8415571" cy="557663"/>
          </a:xfrm>
        </p:spPr>
        <p:txBody>
          <a:bodyPr/>
          <a:lstStyle/>
          <a:p>
            <a:pPr algn="ctr"/>
            <a:r>
              <a:rPr lang="ru-RU" sz="2400" dirty="0">
                <a:latin typeface="+mj-lt"/>
              </a:rPr>
              <a:t>Основни функционалности на приложението</a:t>
            </a:r>
            <a:endParaRPr lang="en-150" sz="2400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AAB0-1A0A-FDF4-012B-8A8D19BFCD77}"/>
              </a:ext>
            </a:extLst>
          </p:cNvPr>
          <p:cNvSpPr txBox="1"/>
          <p:nvPr/>
        </p:nvSpPr>
        <p:spPr>
          <a:xfrm>
            <a:off x="806165" y="832420"/>
            <a:ext cx="7802839" cy="3659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Регистрация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и </a:t>
            </a: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автентикация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</a:t>
            </a: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на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</a:t>
            </a:r>
            <a:r>
              <a:rPr lang="en-US" sz="1200" b="1" dirty="0" err="1">
                <a:effectLst/>
                <a:latin typeface="+mj-lt"/>
                <a:ea typeface="Calibri" panose="020F0502020204030204" pitchFamily="34" charset="0"/>
              </a:rPr>
              <a:t>потребители</a:t>
            </a:r>
            <a:r>
              <a:rPr lang="en-US" sz="1200" b="1" dirty="0">
                <a:effectLst/>
                <a:latin typeface="+mj-lt"/>
                <a:ea typeface="Calibri" panose="020F0502020204030204" pitchFamily="34" charset="0"/>
              </a:rPr>
              <a:t> </a:t>
            </a:r>
            <a:r>
              <a:rPr lang="en-US" sz="1200" dirty="0">
                <a:effectLst/>
                <a:latin typeface="+mj-lt"/>
                <a:ea typeface="Calibri" panose="020F0502020204030204" pitchFamily="34" charset="0"/>
              </a:rPr>
              <a:t>-</a:t>
            </a:r>
            <a:r>
              <a:rPr lang="en-US" sz="1200" dirty="0">
                <a:latin typeface="+mj-lt"/>
                <a:ea typeface="Calibri" panose="020F0502020204030204" pitchFamily="34" charset="0"/>
              </a:rPr>
              <a:t> </a:t>
            </a:r>
            <a:r>
              <a:rPr lang="bg-BG" sz="1200" dirty="0">
                <a:latin typeface="+mj-lt"/>
                <a:ea typeface="Calibri" panose="020F0502020204030204" pitchFamily="34" charset="0"/>
              </a:rPr>
              <a:t>и</a:t>
            </a:r>
            <a:r>
              <a:rPr lang="ru-RU" sz="1200" dirty="0">
                <a:effectLst/>
                <a:latin typeface="+mj-lt"/>
                <a:ea typeface="Calibri" panose="020F0502020204030204" pitchFamily="34" charset="0"/>
              </a:rPr>
              <a:t>зползване на Spring Security за защита и управление на потребителски права</a:t>
            </a:r>
            <a:r>
              <a:rPr lang="en-US" sz="1200" dirty="0">
                <a:effectLst/>
                <a:latin typeface="+mj-lt"/>
                <a:ea typeface="Calibri" panose="020F0502020204030204" pitchFamily="34" charset="0"/>
              </a:rPr>
              <a:t> </a:t>
            </a:r>
            <a:endParaRPr lang="bg-BG" sz="1200" dirty="0"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Управление на туристически дестинации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– 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възможност за добавяне, редактиране и изтриване на дестинации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Онлайн резервации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– 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потребителите могат да правят резервации в реално време с възможност за автоматизирани потвърждения и известия за статусите на резервациите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Филтриране и сортиране на дестинации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в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ъзможност за сортиране на дестинациите по различни критерии, като цена, популярност и рейтинг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Управление на наличности и оферти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пл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атформата предлага информация за наличните дестинации, както и автоматизирани промоционални оферти и кампании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Проследяване на резервации и плащания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с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истемата позволява проследяване на направените резервации и плащания, като се интегрира с различни платежни системи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bg-BG" sz="1200" b="1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Отчети и статистики </a:t>
            </a:r>
            <a:r>
              <a:rPr lang="bg-BG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- </a:t>
            </a:r>
            <a:r>
              <a:rPr lang="ru-RU" sz="1200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г</a:t>
            </a:r>
            <a:r>
              <a:rPr lang="ru-RU" sz="1200" dirty="0">
                <a:effectLst/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енериране на отчети за завършени резервации и анализ на събраните данни</a:t>
            </a:r>
            <a:endParaRPr lang="en-150" sz="1200" dirty="0">
              <a:effectLst/>
              <a:latin typeface="+mj-lt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991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6E3A5-63E7-D646-05C8-2F7B4D3C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3A207-3CBA-DC7C-0DFE-D4C779DA6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079" y="80882"/>
            <a:ext cx="8415571" cy="557663"/>
          </a:xfrm>
        </p:spPr>
        <p:txBody>
          <a:bodyPr/>
          <a:lstStyle/>
          <a:p>
            <a:pPr algn="ctr"/>
            <a:r>
              <a:rPr lang="bg-BG" dirty="0">
                <a:latin typeface="+mj-lt"/>
              </a:rPr>
              <a:t>Използвани технологии</a:t>
            </a:r>
            <a:endParaRPr lang="en-150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072770-C230-DF74-EECE-0E734636F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9" y="1871755"/>
            <a:ext cx="366783" cy="682260"/>
          </a:xfrm>
          <a:prstGeom prst="rect">
            <a:avLst/>
          </a:prstGeom>
        </p:spPr>
      </p:pic>
      <p:pic>
        <p:nvPicPr>
          <p:cNvPr id="5" name="Picture 4" descr="Thymeleaf">
            <a:extLst>
              <a:ext uri="{FF2B5EF4-FFF2-40B4-BE49-F238E27FC236}">
                <a16:creationId xmlns:a16="http://schemas.microsoft.com/office/drawing/2014/main" id="{482FA365-6076-6329-48A9-37B76333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9912" y="1947758"/>
            <a:ext cx="522366" cy="522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262834-25F5-3B47-AEC1-C239483B2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467" y="1947759"/>
            <a:ext cx="522157" cy="5223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B583D6-9C08-AC77-3C52-814B119710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06" y="2728185"/>
            <a:ext cx="472550" cy="5411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D92C97A-B9FD-7970-54D4-E24C337F63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8074" y="2728185"/>
            <a:ext cx="472550" cy="5411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4D97A2-BBFE-DFE4-0BF8-791E0B9802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9912" y="2746989"/>
            <a:ext cx="522366" cy="522366"/>
          </a:xfrm>
          <a:prstGeom prst="rect">
            <a:avLst/>
          </a:prstGeom>
        </p:spPr>
      </p:pic>
      <p:pic>
        <p:nvPicPr>
          <p:cNvPr id="1026" name="Picture 2" descr="Tailwind CSS Basics. I spent the past week building a… | by starrdev |  Medium">
            <a:extLst>
              <a:ext uri="{FF2B5EF4-FFF2-40B4-BE49-F238E27FC236}">
                <a16:creationId xmlns:a16="http://schemas.microsoft.com/office/drawing/2014/main" id="{9D2BC93E-9CE7-4E51-63B0-5DBCB8E91F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601" b="26827"/>
          <a:stretch/>
        </p:blipFill>
        <p:spPr bwMode="auto">
          <a:xfrm>
            <a:off x="498191" y="3514945"/>
            <a:ext cx="1961094" cy="446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8BD09C-0DF0-5EAA-E43D-1884F485FD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86624" y="1905780"/>
            <a:ext cx="564344" cy="56434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135E45-6E41-8DEF-D87B-90901F4D8BB6}"/>
              </a:ext>
            </a:extLst>
          </p:cNvPr>
          <p:cNvSpPr txBox="1"/>
          <p:nvPr/>
        </p:nvSpPr>
        <p:spPr>
          <a:xfrm>
            <a:off x="433087" y="1071209"/>
            <a:ext cx="2793649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Технологии, използвани за разработката на приложението</a:t>
            </a:r>
          </a:p>
        </p:txBody>
      </p:sp>
      <p:pic>
        <p:nvPicPr>
          <p:cNvPr id="1028" name="Picture 4" descr="Spring Security Tutorials - Java Code Geeks">
            <a:extLst>
              <a:ext uri="{FF2B5EF4-FFF2-40B4-BE49-F238E27FC236}">
                <a16:creationId xmlns:a16="http://schemas.microsoft.com/office/drawing/2014/main" id="{C3B8D2D8-37CA-4708-0EEB-6A7697141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7167" y="2686206"/>
            <a:ext cx="596012" cy="596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A4324D2-DA15-A441-AF1B-07677023627A}"/>
              </a:ext>
            </a:extLst>
          </p:cNvPr>
          <p:cNvSpPr txBox="1"/>
          <p:nvPr/>
        </p:nvSpPr>
        <p:spPr>
          <a:xfrm>
            <a:off x="3153179" y="1067689"/>
            <a:ext cx="2964738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Технология, използвана за създаването на </a:t>
            </a:r>
            <a:r>
              <a:rPr lang="de-DE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UML </a:t>
            </a: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диаграмите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3872EE-36A0-C62A-F3EB-62F51B706A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91292" y="3410476"/>
            <a:ext cx="559676" cy="559676"/>
          </a:xfrm>
          <a:prstGeom prst="rect">
            <a:avLst/>
          </a:prstGeom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C31362A6-94B5-A0E5-4274-6C41062D3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5156" y="2012257"/>
            <a:ext cx="1347898" cy="134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65F8CD5-CFF7-2B5E-D7C1-5FA5C0ED6C10}"/>
              </a:ext>
            </a:extLst>
          </p:cNvPr>
          <p:cNvSpPr txBox="1"/>
          <p:nvPr/>
        </p:nvSpPr>
        <p:spPr>
          <a:xfrm>
            <a:off x="5977462" y="1057103"/>
            <a:ext cx="2964738" cy="612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bg-BG" sz="1200" b="1" dirty="0">
                <a:latin typeface="+mj-lt"/>
                <a:ea typeface="Times New Roman" panose="02020603050405020304" pitchFamily="18" charset="0"/>
                <a:cs typeface="Calibri" panose="020F0502020204030204" pitchFamily="34" charset="0"/>
              </a:rPr>
              <a:t>Приложения, използвани за разработката на проекта</a:t>
            </a:r>
          </a:p>
        </p:txBody>
      </p:sp>
      <p:pic>
        <p:nvPicPr>
          <p:cNvPr id="21" name="Picture 20" descr="Git">
            <a:extLst>
              <a:ext uri="{FF2B5EF4-FFF2-40B4-BE49-F238E27FC236}">
                <a16:creationId xmlns:a16="http://schemas.microsoft.com/office/drawing/2014/main" id="{B255D995-7D9D-BF28-DF7A-2DAF996755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5728" y="1864736"/>
            <a:ext cx="605388" cy="605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9A1608-689E-76B3-43EE-F4751050071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25138" y="1904993"/>
            <a:ext cx="563775" cy="56513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E081871-785B-3DC6-F0B4-BAAEFAE06F8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56760" y="1906247"/>
            <a:ext cx="625659" cy="605388"/>
          </a:xfrm>
          <a:prstGeom prst="rect">
            <a:avLst/>
          </a:prstGeom>
        </p:spPr>
      </p:pic>
      <p:pic>
        <p:nvPicPr>
          <p:cNvPr id="1036" name="Picture 12" descr="Microsoft Word - Wikipedia">
            <a:extLst>
              <a:ext uri="{FF2B5EF4-FFF2-40B4-BE49-F238E27FC236}">
                <a16:creationId xmlns:a16="http://schemas.microsoft.com/office/drawing/2014/main" id="{43E39246-6D5A-12E4-077C-70BDA7FD0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0909" y="2753756"/>
            <a:ext cx="650045" cy="605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Microsoft PowerPoint - Wikipedia">
            <a:extLst>
              <a:ext uri="{FF2B5EF4-FFF2-40B4-BE49-F238E27FC236}">
                <a16:creationId xmlns:a16="http://schemas.microsoft.com/office/drawing/2014/main" id="{B34FE40A-3181-2B97-D378-4C224A79A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0733" y="2753756"/>
            <a:ext cx="650046" cy="605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987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7D48-3A23-EE12-5FB7-6E029F32A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51EF1-CE5B-BEA0-C2BF-72CC57056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5767" y="1471400"/>
            <a:ext cx="5867895" cy="1795215"/>
          </a:xfrm>
        </p:spPr>
        <p:txBody>
          <a:bodyPr/>
          <a:lstStyle/>
          <a:p>
            <a:pPr algn="ctr"/>
            <a:r>
              <a:rPr lang="bg-BG" sz="4400" dirty="0">
                <a:latin typeface="+mj-lt"/>
              </a:rPr>
              <a:t>Нека преминем към самия проект!</a:t>
            </a:r>
            <a:endParaRPr lang="en-150" sz="4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96063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A046F-AF5A-9208-E291-5EBE5A98F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1481" y="1278721"/>
            <a:ext cx="4913124" cy="2656351"/>
          </a:xfrm>
        </p:spPr>
        <p:txBody>
          <a:bodyPr/>
          <a:lstStyle/>
          <a:p>
            <a:pPr algn="ctr"/>
            <a:r>
              <a:rPr lang="bg-BG" dirty="0">
                <a:latin typeface="+mj-lt"/>
              </a:rPr>
              <a:t>Благодаря за вниманието!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66770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lean and Neat Style Portfolio by Slidesgo">
  <a:themeElements>
    <a:clrScheme name="Simple Light">
      <a:dk1>
        <a:srgbClr val="191919"/>
      </a:dk1>
      <a:lt1>
        <a:srgbClr val="FFFFFF"/>
      </a:lt1>
      <a:dk2>
        <a:srgbClr val="45818E"/>
      </a:dk2>
      <a:lt2>
        <a:srgbClr val="D9D9D9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295</Words>
  <Application>Microsoft Office PowerPoint</Application>
  <PresentationFormat>Презентация на цял екран (16:9)</PresentationFormat>
  <Paragraphs>24</Paragraphs>
  <Slides>6</Slides>
  <Notes>1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6</vt:i4>
      </vt:variant>
    </vt:vector>
  </HeadingPairs>
  <TitlesOfParts>
    <vt:vector size="10" baseType="lpstr">
      <vt:lpstr>Symbol</vt:lpstr>
      <vt:lpstr>Poppins</vt:lpstr>
      <vt:lpstr>Arial</vt:lpstr>
      <vt:lpstr>Clean and Neat Style Portfolio by Slidesgo</vt:lpstr>
      <vt:lpstr>Система за управление на екзотични туристически дестинации</vt:lpstr>
      <vt:lpstr>Въведение</vt:lpstr>
      <vt:lpstr>Основни функционалности на приложението</vt:lpstr>
      <vt:lpstr>Използвани технологии</vt:lpstr>
      <vt:lpstr>Нека преминем към самия проект!</vt:lpstr>
      <vt:lpstr>Благодаря за вниманието!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Zahari Mihalev</cp:lastModifiedBy>
  <cp:revision>23</cp:revision>
  <dcterms:modified xsi:type="dcterms:W3CDTF">2025-04-01T21:35:57Z</dcterms:modified>
</cp:coreProperties>
</file>